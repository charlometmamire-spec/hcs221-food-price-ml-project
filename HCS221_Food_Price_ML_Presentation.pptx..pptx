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40" d="100"/>
          <a:sy n="40" d="100"/>
        </p:scale>
        <p:origin x="6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89042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1200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79504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15967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76575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27646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96700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00521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91051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56270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039898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323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587264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045400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522795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28133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96324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93349-E948-41DE-89D4-59BD855A1D32}" type="datetimeFigureOut">
              <a:rPr lang="en-ZW" smtClean="0"/>
              <a:t>26/10/2026</a:t>
            </a:fld>
            <a:endParaRPr lang="en-Z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8C2F-9541-48AD-B6E7-D6B49701F43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958546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7519-B467-51FB-717C-460BC7279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0"/>
            <a:ext cx="8791575" cy="350996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HCS221 | MACHINE LEARNING PROJECT</a:t>
            </a: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Predicting Food Commodity Prices in Zimbabwe Using Machine Learning Techniques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A Historical Price-Estimation Prototype for Roller Maize Meal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ZW" sz="3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02C53-CB77-4786-F38F-176AD6563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7"/>
            <a:ext cx="8791575" cy="206082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Presented by: </a:t>
            </a:r>
            <a:r>
              <a:rPr lang="en-US" sz="2400" b="1" dirty="0" err="1">
                <a:solidFill>
                  <a:schemeClr val="bg1"/>
                </a:solidFill>
              </a:rPr>
              <a:t>mamire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charlome</a:t>
            </a:r>
            <a:r>
              <a:rPr lang="en-US" sz="2400" b="1" dirty="0">
                <a:solidFill>
                  <a:schemeClr val="bg1"/>
                </a:solidFill>
              </a:rPr>
              <a:t> 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Student number: [m252012]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Institution: Great Zimbabwe University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88755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6DB3-E842-A476-B332-E6B12C86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51284"/>
          </a:xfrm>
        </p:spPr>
        <p:txBody>
          <a:bodyPr/>
          <a:lstStyle/>
          <a:p>
            <a:r>
              <a:rPr lang="en-ZW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0F3F-CAF4-39B6-C2D9-EF8087002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1251284"/>
            <a:ext cx="11839073" cy="5606716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This project investigates whether machine learning techniques can predict the historical prices of a staple food commodity in Zimbabwe using past price observations.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The project focuses on</a:t>
            </a:r>
            <a:r>
              <a:rPr lang="en-US" sz="2800" b="1" dirty="0">
                <a:solidFill>
                  <a:schemeClr val="bg1"/>
                </a:solidFill>
              </a:rPr>
              <a:t>:</a:t>
            </a:r>
          </a:p>
          <a:p>
            <a:r>
              <a:rPr lang="en-US" sz="2800" b="1" dirty="0" err="1">
                <a:solidFill>
                  <a:schemeClr val="bg1"/>
                </a:solidFill>
              </a:rPr>
              <a:t>Analysing</a:t>
            </a:r>
            <a:r>
              <a:rPr lang="en-US" sz="2800" b="1" dirty="0">
                <a:solidFill>
                  <a:schemeClr val="bg1"/>
                </a:solidFill>
              </a:rPr>
              <a:t> historical Roller Maize Meal prices.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Preparing and exploring the dataset.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Developing Linear Regression and Random Forest regression models.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Comparing the models against a previous-price baseline.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Building a simple prototype that estimates price per kilogram and total cost for a specified quantity.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Evaluating the models using MAE, RMSE, and \(R^2\).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78195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7A2A-B928-7A9B-4C83-D085F06E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95" y="112296"/>
            <a:ext cx="11967410" cy="1106904"/>
          </a:xfrm>
        </p:spPr>
        <p:txBody>
          <a:bodyPr/>
          <a:lstStyle/>
          <a:p>
            <a:r>
              <a:rPr lang="en-ZW" dirty="0"/>
              <a:t>Background 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70E93-889A-C664-1823-81CE7744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6" y="1026694"/>
            <a:ext cx="12079704" cy="5719009"/>
          </a:xfrm>
        </p:spPr>
        <p:txBody>
          <a:bodyPr>
            <a:normAutofit fontScale="77500" lnSpcReduction="20000"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Background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Staple foods play an important role in household food security in Zimbabwe. Roller Maize Meal is one of the commodities whose historical prices can be </a:t>
            </a:r>
            <a:r>
              <a:rPr lang="en-US" sz="26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analysed</a:t>
            </a:r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to understand price changes over time.</a:t>
            </a:r>
          </a:p>
          <a:p>
            <a:r>
              <a:rPr lang="en-US" sz="2600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Problem Statement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Food commodity prices can change considerably over time.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Historical price records can help identify patterns and support data-driven analysis.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is important to investigate whether machine learning models can estimate future prices from historical observations.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Prediction errors may limit the usefulness of a model, so its performance must be compared with a simple baseline.</a:t>
            </a:r>
          </a:p>
          <a:p>
            <a:r>
              <a:rPr lang="en-US" sz="2600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Proposed Approach</a:t>
            </a:r>
          </a:p>
          <a:p>
            <a:r>
              <a:rPr lang="en-US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project uses historical FEWS NET price data for Roller Maize Meal, develops regression models, and evaluates their performance against a previous-price baseline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02764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8377-B296-B96F-B748-2F8FF710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66799"/>
          </a:xfrm>
        </p:spPr>
        <p:txBody>
          <a:bodyPr/>
          <a:lstStyle/>
          <a:p>
            <a:r>
              <a:rPr lang="en-ZW" dirty="0"/>
              <a:t>Aim and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8640C-74BA-4113-295B-A2A27D5C19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86064"/>
                <a:ext cx="12192000" cy="60719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ZW" dirty="0"/>
                  <a:t>Aim</a:t>
                </a:r>
              </a:p>
              <a:p>
                <a:r>
                  <a:rPr lang="en-ZW" dirty="0"/>
                  <a:t>To investigate the effectiveness of machine learning regression techniques in predicting historical Roller Maize Meal prices in Zimbabwe using past price observations.</a:t>
                </a:r>
              </a:p>
              <a:p>
                <a:r>
                  <a:rPr lang="en-ZW" dirty="0"/>
                  <a:t>Specific Objectives</a:t>
                </a:r>
              </a:p>
              <a:p>
                <a:r>
                  <a:rPr lang="en-ZW" dirty="0">
                    <a:effectLst/>
                  </a:rPr>
                  <a:t>Obtain and examine historical staple food price data for Zimbabwe.</a:t>
                </a:r>
              </a:p>
              <a:p>
                <a:r>
                  <a:rPr lang="en-ZW" dirty="0">
                    <a:effectLst/>
                  </a:rPr>
                  <a:t>Select Roller Maize Meal prices recorded in US dollars to maintain currency consistency.</a:t>
                </a:r>
              </a:p>
              <a:p>
                <a:r>
                  <a:rPr lang="en-ZW" dirty="0">
                    <a:effectLst/>
                  </a:rPr>
                  <a:t>Clean and prepare the data for regression modelling.</a:t>
                </a:r>
              </a:p>
              <a:p>
                <a:r>
                  <a:rPr lang="en-ZW" dirty="0">
                    <a:effectLst/>
                  </a:rPr>
                  <a:t>Develop Linear Regression and Random Forest models using historical price-related features.</a:t>
                </a:r>
              </a:p>
              <a:p>
                <a:r>
                  <a:rPr lang="en-ZW" dirty="0">
                    <a:effectLst/>
                  </a:rPr>
                  <a:t>Evaluate model performance using Mean Absolute Error (MAE), Root Mean Squared Error (RMSE), and the coefficient of determination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𝑅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</m:oMath>
                </a14:m>
                <a:r>
                  <a:rPr lang="ar-AE" dirty="0">
                    <a:effectLst/>
                  </a:rPr>
                  <a:t>).</a:t>
                </a:r>
              </a:p>
              <a:p>
                <a:r>
                  <a:rPr lang="en-ZW" dirty="0">
                    <a:effectLst/>
                  </a:rPr>
                  <a:t>Compare the models with a previous-price baseline and develop a simple price-estimation prototype.</a:t>
                </a:r>
              </a:p>
              <a:p>
                <a:endParaRPr lang="en-ZW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8640C-74BA-4113-295B-A2A27D5C19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86064"/>
                <a:ext cx="12192000" cy="6071936"/>
              </a:xfrm>
              <a:blipFill>
                <a:blip r:embed="rId2"/>
                <a:stretch>
                  <a:fillRect l="-1000" t="-1807" r="-50"/>
                </a:stretch>
              </a:blipFill>
            </p:spPr>
            <p:txBody>
              <a:bodyPr/>
              <a:lstStyle/>
              <a:p>
                <a:r>
                  <a:rPr lang="en-Z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86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0EBC-3E3E-FFBE-1512-37D2CA7C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799"/>
          </a:xfrm>
        </p:spPr>
        <p:txBody>
          <a:bodyPr/>
          <a:lstStyle/>
          <a:p>
            <a:r>
              <a:rPr lang="en-ZW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37732-3DF7-456D-1CE7-46949DB41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042" y="914401"/>
            <a:ext cx="12192000" cy="5710988"/>
          </a:xfrm>
        </p:spPr>
        <p:txBody>
          <a:bodyPr>
            <a:normAutofit fontScale="47500" lnSpcReduction="20000"/>
          </a:bodyPr>
          <a:lstStyle/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source: FEWS NET Staple Food Price Data for Zimbabwe, obtained from Hugging Face.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characteristics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Original dataset size: 4,878 records and 17 columns.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Selected commodity: Roller Maize Meal.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Target variable: Historical price in US dollars per kilogram (USD/kg).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Valid USD price observations before feature engineering: 169.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Period covered by the selected USD series: April 2004 – February 2019.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Relevant variables</a:t>
            </a:r>
          </a:p>
          <a:p>
            <a:r>
              <a:rPr lang="en-US" sz="33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period_date</a:t>
            </a:r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— date of the price observation.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product — food commodity.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market — market where the price was recorded.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currency — currency used for the price.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value — recorded commodity price.</a:t>
            </a:r>
          </a:p>
          <a:p>
            <a:r>
              <a:rPr lang="en-US" sz="3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selection: Only valid USD observations for Roller Maize Meal were used to avoid mixing prices recorded in different currencies</a:t>
            </a:r>
            <a:r>
              <a:rPr lang="en-US" sz="3300" b="1" dirty="0">
                <a:solidFill>
                  <a:schemeClr val="bg1"/>
                </a:solidFill>
              </a:rPr>
              <a:t>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173384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E612-C2A7-583C-EA04-B54DFA9C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14400"/>
          </a:xfrm>
        </p:spPr>
        <p:txBody>
          <a:bodyPr/>
          <a:lstStyle/>
          <a:p>
            <a:r>
              <a:rPr lang="en-US" dirty="0"/>
              <a:t>Data Preparation and Exploratory Analysis</a:t>
            </a:r>
            <a:endParaRPr lang="en-Z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39FA-A33F-0994-2C97-AF52623BF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914400"/>
            <a:ext cx="11839073" cy="594359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Data preparation</a:t>
            </a:r>
          </a:p>
          <a:p>
            <a:r>
              <a:rPr lang="en-US" b="1" dirty="0"/>
              <a:t>Loaded the original dataset and examined its columns and data types.</a:t>
            </a:r>
          </a:p>
          <a:p>
            <a:r>
              <a:rPr lang="en-US" b="1" dirty="0"/>
              <a:t>Selected Roller Maize Meal records priced in USD.</a:t>
            </a:r>
          </a:p>
          <a:p>
            <a:r>
              <a:rPr lang="en-US" b="1" dirty="0"/>
              <a:t>Removed observations with missing values required for modelling.</a:t>
            </a:r>
          </a:p>
          <a:p>
            <a:r>
              <a:rPr lang="en-US" b="1" dirty="0"/>
              <a:t>Created year and month features from the observation date.</a:t>
            </a:r>
          </a:p>
          <a:p>
            <a:r>
              <a:rPr lang="en-US" b="1" dirty="0"/>
              <a:t>Created lag features using previous available price observations.</a:t>
            </a:r>
          </a:p>
          <a:p>
            <a:r>
              <a:rPr lang="en-US" b="1" dirty="0"/>
              <a:t>Used a chronological train–test split to preserve time order.</a:t>
            </a:r>
          </a:p>
          <a:p>
            <a:r>
              <a:rPr lang="en-US" b="1" dirty="0"/>
              <a:t>Exploratory findings</a:t>
            </a:r>
          </a:p>
          <a:p>
            <a:r>
              <a:rPr lang="en-US" b="1" dirty="0"/>
              <a:t>The selected USD series contained 169 valid observations before feature engineering.</a:t>
            </a:r>
          </a:p>
          <a:p>
            <a:r>
              <a:rPr lang="en-US" b="1" dirty="0"/>
              <a:t>Prices varied over the historical period.</a:t>
            </a:r>
          </a:p>
          <a:p>
            <a:r>
              <a:rPr lang="en-US" b="1" dirty="0"/>
              <a:t>The observed prices ranged approximately from $0.02 to $0.96 per kg.</a:t>
            </a:r>
          </a:p>
          <a:p>
            <a:r>
              <a:rPr lang="en-US" b="1" dirty="0"/>
              <a:t>Some unusually low and high prices were retained because they could represent genuine historical conditions rather than data errors.</a:t>
            </a:r>
          </a:p>
          <a:p>
            <a:r>
              <a:rPr lang="en-US" b="1" dirty="0"/>
              <a:t>Final modelling dataset</a:t>
            </a:r>
          </a:p>
          <a:p>
            <a:r>
              <a:rPr lang="en-US" b="1" dirty="0"/>
              <a:t>After lag-feature creation and removal of rows without the required lag values, 166 observations remained. The chronological split produced 132 training observations and 34 test observations.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163070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FF89-01D8-3041-CDAA-86AE0E02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19200"/>
          </a:xfrm>
        </p:spPr>
        <p:txBody>
          <a:bodyPr/>
          <a:lstStyle/>
          <a:p>
            <a:r>
              <a:rPr lang="en-ZW" dirty="0"/>
              <a:t>Machine Learning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659E9-D510-36CF-4571-F38C9992D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0232"/>
            <a:ext cx="12192000" cy="60077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he project followed a supervised machine learning regression approach to estimate Roller Maize Meal prices from historical data.</a:t>
            </a:r>
          </a:p>
          <a:p>
            <a:r>
              <a:rPr lang="en-US" dirty="0"/>
              <a:t>Input features</a:t>
            </a:r>
          </a:p>
          <a:p>
            <a:r>
              <a:rPr lang="en-US" dirty="0"/>
              <a:t>Year: Year of the price observation.</a:t>
            </a:r>
          </a:p>
          <a:p>
            <a:r>
              <a:rPr lang="en-US" dirty="0"/>
              <a:t>Month: Month of the observation.</a:t>
            </a:r>
          </a:p>
          <a:p>
            <a:r>
              <a:rPr lang="en-US" dirty="0"/>
              <a:t>Previous available price: Price from the preceding available observation.</a:t>
            </a:r>
          </a:p>
          <a:p>
            <a:r>
              <a:rPr lang="en-US" dirty="0"/>
              <a:t>Price three observations earlier: Price recorded three available observations before the current one.</a:t>
            </a:r>
          </a:p>
          <a:p>
            <a:r>
              <a:rPr lang="en-US" dirty="0"/>
              <a:t>Target variable</a:t>
            </a:r>
          </a:p>
          <a:p>
            <a:r>
              <a:rPr lang="en-US" dirty="0"/>
              <a:t>The observed Roller Maize Meal price in USD per kilogram.</a:t>
            </a:r>
          </a:p>
          <a:p>
            <a:r>
              <a:rPr lang="en-US" dirty="0"/>
              <a:t>Experimental procedure</a:t>
            </a:r>
          </a:p>
          <a:p>
            <a:r>
              <a:rPr lang="en-US" dirty="0"/>
              <a:t>Prepare the selected historical price series.</a:t>
            </a:r>
          </a:p>
          <a:p>
            <a:r>
              <a:rPr lang="en-US" dirty="0"/>
              <a:t>Generate numerical features from dates and previous prices.</a:t>
            </a:r>
          </a:p>
          <a:p>
            <a:r>
              <a:rPr lang="en-US" dirty="0"/>
              <a:t>Split the observations chronologically into training and testing sets.</a:t>
            </a:r>
          </a:p>
          <a:p>
            <a:r>
              <a:rPr lang="en-US" dirty="0"/>
              <a:t>Train Linear Regression and Random Forest regression models.</a:t>
            </a:r>
          </a:p>
          <a:p>
            <a:r>
              <a:rPr lang="en-US" dirty="0"/>
              <a:t>Evaluate predictions using MAE, RMSE, and \(R^2\).</a:t>
            </a:r>
          </a:p>
          <a:p>
            <a:r>
              <a:rPr lang="en-US" dirty="0"/>
              <a:t>Compare both models with a previous-price baseline.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78879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BA89-9DFF-E55F-F985-6C3C8B6F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8358"/>
          </a:xfrm>
        </p:spPr>
        <p:txBody>
          <a:bodyPr/>
          <a:lstStyle/>
          <a:p>
            <a:r>
              <a:rPr lang="en-ZW" dirty="0"/>
              <a:t>simple workflow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9E1B65-962B-52CB-C264-B24CBE42D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7" t="19145" r="7407" b="28595"/>
          <a:stretch>
            <a:fillRect/>
          </a:stretch>
        </p:blipFill>
        <p:spPr>
          <a:xfrm>
            <a:off x="0" y="898359"/>
            <a:ext cx="12192000" cy="59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9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425A-B41A-1FD8-2DED-EEFC1E4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296"/>
            <a:ext cx="12192000" cy="954504"/>
          </a:xfrm>
        </p:spPr>
        <p:txBody>
          <a:bodyPr/>
          <a:lstStyle/>
          <a:p>
            <a:r>
              <a:rPr lang="en-ZW" dirty="0"/>
              <a:t>Models and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C03A-4BDA-68C2-27A2-66D9C2C40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6484"/>
            <a:ext cx="12192000" cy="57992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. </a:t>
            </a:r>
            <a:r>
              <a:rPr lang="en-US" u="sng" dirty="0"/>
              <a:t>Linear Regression</a:t>
            </a:r>
          </a:p>
          <a:p>
            <a:r>
              <a:rPr lang="en-US" dirty="0"/>
              <a:t>A supervised learning algorithm that estimates a numerical outcome by modelling relationships between input features and the target variable.</a:t>
            </a:r>
          </a:p>
          <a:p>
            <a:r>
              <a:rPr lang="en-US" dirty="0"/>
              <a:t>2. </a:t>
            </a:r>
            <a:r>
              <a:rPr lang="en-US" u="sng" dirty="0"/>
              <a:t>Random Forest Regression</a:t>
            </a:r>
          </a:p>
          <a:p>
            <a:r>
              <a:rPr lang="en-US" dirty="0"/>
              <a:t>An ensemble learning method that combines predictions from multiple decision trees to estimate a numerical value. The model was tuned using validation data.</a:t>
            </a:r>
          </a:p>
          <a:p>
            <a:r>
              <a:rPr lang="en-US" dirty="0"/>
              <a:t>3. </a:t>
            </a:r>
            <a:r>
              <a:rPr lang="en-US" u="sng" dirty="0"/>
              <a:t>Previous-Price Baseline</a:t>
            </a:r>
          </a:p>
          <a:p>
            <a:r>
              <a:rPr lang="en-US" dirty="0"/>
              <a:t>A simple benchmark that predicts the next price using the previous available observation. It helps determine whether the machine learning models offer a meaningful improvement.</a:t>
            </a:r>
          </a:p>
          <a:p>
            <a:r>
              <a:rPr lang="en-US" u="sng" dirty="0"/>
              <a:t>Evaluation metrics</a:t>
            </a:r>
          </a:p>
          <a:p>
            <a:r>
              <a:rPr lang="en-US" dirty="0"/>
              <a:t>MAE: Mean Absolute Error; measures the average absolute prediction error. Lower is better.</a:t>
            </a:r>
          </a:p>
          <a:p>
            <a:r>
              <a:rPr lang="en-US" dirty="0"/>
              <a:t>RMSE: Root Mean Squared Error; </a:t>
            </a:r>
            <a:r>
              <a:rPr lang="en-US" dirty="0" err="1"/>
              <a:t>penalises</a:t>
            </a:r>
            <a:r>
              <a:rPr lang="en-US" dirty="0"/>
              <a:t> larger prediction errors more heavily. Lower is better.</a:t>
            </a:r>
          </a:p>
          <a:p>
            <a:r>
              <a:rPr lang="en-US" dirty="0"/>
              <a:t>\(R^2\): Measures how well predictions explain variation in the target values. Higher is generally better.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31147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B07D-1D35-FAB0-0F0B-802B3A813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15900"/>
            <a:ext cx="9905998" cy="1147679"/>
          </a:xfrm>
        </p:spPr>
        <p:txBody>
          <a:bodyPr/>
          <a:lstStyle/>
          <a:p>
            <a:r>
              <a:rPr lang="en-US" dirty="0"/>
              <a:t>Experimental Results and Model Comparison</a:t>
            </a:r>
            <a:endParaRPr lang="en-Z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5CAEDE-F43A-DCE4-F40B-F64EEBC1B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619" t="15987" r="3985" b="20168"/>
          <a:stretch>
            <a:fillRect/>
          </a:stretch>
        </p:blipFill>
        <p:spPr>
          <a:xfrm>
            <a:off x="1" y="1138989"/>
            <a:ext cx="12352420" cy="571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6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263A-D45A-7F99-C229-B2BE0208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0736"/>
            <a:ext cx="9905998" cy="617621"/>
          </a:xfrm>
        </p:spPr>
        <p:txBody>
          <a:bodyPr>
            <a:normAutofit fontScale="90000"/>
          </a:bodyPr>
          <a:lstStyle/>
          <a:p>
            <a:r>
              <a:rPr lang="en-ZW" dirty="0"/>
              <a:t>Discussion, Limitations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A249-2171-C27E-9B98-30BC6FA7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4820"/>
            <a:ext cx="12192000" cy="57831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Discussion</a:t>
            </a:r>
          </a:p>
          <a:p>
            <a:r>
              <a:rPr lang="en-US" dirty="0"/>
              <a:t>The results show that the more complex machine learning models did not improve on the simple previous-price baseline. This suggests that model complexity alone does not guarantee better predictive performance.</a:t>
            </a:r>
          </a:p>
          <a:p>
            <a:r>
              <a:rPr lang="en-US" dirty="0"/>
              <a:t>Limitations</a:t>
            </a:r>
          </a:p>
          <a:p>
            <a:r>
              <a:rPr lang="en-US" dirty="0"/>
              <a:t>The selected USD price series contained only 169 valid observations before feature engineering.</a:t>
            </a:r>
          </a:p>
          <a:p>
            <a:r>
              <a:rPr lang="en-US" dirty="0"/>
              <a:t>The historical series ends in February 2019 and does not represent present-day market conditions.</a:t>
            </a:r>
          </a:p>
          <a:p>
            <a:r>
              <a:rPr lang="en-US" dirty="0"/>
              <a:t>Missing calendar months mean the lag features refer to previous available observations rather than guaranteed monthly intervals.</a:t>
            </a:r>
          </a:p>
          <a:p>
            <a:r>
              <a:rPr lang="en-US" dirty="0"/>
              <a:t>The baseline's strong performance highlights the need for careful model comparison.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Obtain more recent and complete price observations.</a:t>
            </a:r>
          </a:p>
          <a:p>
            <a:r>
              <a:rPr lang="en-US" dirty="0"/>
              <a:t>Investigate additional explanatory variables, such as market location and seasonal factors.</a:t>
            </a:r>
          </a:p>
          <a:p>
            <a:r>
              <a:rPr lang="en-US" dirty="0"/>
              <a:t>Explore further model tuning and alternative forecasting approaches.</a:t>
            </a:r>
          </a:p>
          <a:p>
            <a:r>
              <a:rPr lang="en-US" dirty="0"/>
              <a:t>Evaluate models on future observations before considering practical deployment.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28784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9D6A-064B-8A70-746A-C9C28A8E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59832"/>
          </a:xfrm>
        </p:spPr>
        <p:txBody>
          <a:bodyPr/>
          <a:lstStyle/>
          <a:p>
            <a:r>
              <a:rPr lang="en-ZW" dirty="0"/>
              <a:t>Conclusion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C5EA-69D9-AF33-73D7-709255051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6484"/>
            <a:ext cx="12015537" cy="59115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Conclusion</a:t>
            </a:r>
          </a:p>
          <a:p>
            <a:r>
              <a:rPr lang="en-US" dirty="0"/>
              <a:t>This project investigated the use of Linear Regression and Random Forest Regression to estimate historical Roller Maize Meal prices in Zimbabwe. A prototype was developed to provide price estimates and quantity-based cost calculations.</a:t>
            </a:r>
          </a:p>
          <a:p>
            <a:r>
              <a:rPr lang="en-US" dirty="0"/>
              <a:t>Although Random Forest achieved a lower MAE than Linear Regression, the previous-price baseline performed best on the held-out test set. Therefore, the findings do not establish that the machine learning models provide superior predictive performance. More recent data and further experimentation are needed.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FEWS NET staple food price dataset for Zimbabwe. Hugging Face dataset: </a:t>
            </a:r>
            <a:r>
              <a:rPr lang="en-US" dirty="0" err="1"/>
              <a:t>electricsheepafrica</a:t>
            </a:r>
            <a:r>
              <a:rPr lang="en-US" dirty="0"/>
              <a:t>/africa-fewsnet-staple-food-price-data-for-zimbabwe-monthly-4566.</a:t>
            </a:r>
          </a:p>
          <a:p>
            <a:r>
              <a:rPr lang="en-US" dirty="0"/>
              <a:t>Pedregosa, F., et al. (2011). Scikit-learn: Machine Learning in Python. Journal of Machine Learning Research, 12, 2825–2830.</a:t>
            </a:r>
          </a:p>
          <a:p>
            <a:r>
              <a:rPr lang="en-US" dirty="0" err="1"/>
              <a:t>Breiman</a:t>
            </a:r>
            <a:r>
              <a:rPr lang="en-US" dirty="0"/>
              <a:t>, L. (2001). Random Forests. Machine Learning, 45, 5–32.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3229659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</TotalTime>
  <Words>1250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Tw Cen MT</vt:lpstr>
      <vt:lpstr>Circuit</vt:lpstr>
      <vt:lpstr>HCS221 | MACHINE LEARNING PROJECT  Predicting Food Commodity Prices in Zimbabwe Using Machine Learning Techniques A Historical Price-Estimation Prototype for Roller Maize Meal </vt:lpstr>
      <vt:lpstr>Project Overview</vt:lpstr>
      <vt:lpstr>Background and Problem Statement</vt:lpstr>
      <vt:lpstr>Aim and Objectives</vt:lpstr>
      <vt:lpstr>Dataset Description</vt:lpstr>
      <vt:lpstr>Data Preparation and Exploratory Analysis</vt:lpstr>
      <vt:lpstr>Machine Learning Methodology</vt:lpstr>
      <vt:lpstr>simple workflow diagram</vt:lpstr>
      <vt:lpstr>Models and Evaluation Metrics</vt:lpstr>
      <vt:lpstr>Experimental Results and Model Comparison</vt:lpstr>
      <vt:lpstr>Discussion, Limitations and Recommendations</vt:lpstr>
      <vt:lpstr>Conclusion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Tamika TIRAK</dc:creator>
  <cp:lastModifiedBy>Tamika TIRAK</cp:lastModifiedBy>
  <cp:revision>2</cp:revision>
  <dcterms:created xsi:type="dcterms:W3CDTF">2026-10-26T09:06:18Z</dcterms:created>
  <dcterms:modified xsi:type="dcterms:W3CDTF">2026-10-26T09:41:25Z</dcterms:modified>
</cp:coreProperties>
</file>